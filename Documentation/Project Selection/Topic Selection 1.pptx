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22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33475"/>
            <a:ext cx="7778710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C-DAC Mumbai: Major Project Topic Selection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40828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to the C-DAC Mumbai Major Project Showcase. Our team is excited to present three innovative solutions designed to address real-world challenges.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752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Members: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Amol Gavit (PL), Suchi Tripathi, Meenakshi Lokhande, Shilpa Pandey, Pallavi Sahay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67331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the guidance of: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Vipul Tembulwar, Rahul Badwar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BFA528-5DD3-9E35-0312-61FB7674956A}"/>
              </a:ext>
            </a:extLst>
          </p:cNvPr>
          <p:cNvSpPr/>
          <p:nvPr/>
        </p:nvSpPr>
        <p:spPr>
          <a:xfrm>
            <a:off x="12592050" y="7760018"/>
            <a:ext cx="1905000" cy="362903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272525"/>
                </a:solidFill>
              </a:ln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6498" y="625673"/>
            <a:ext cx="7583805" cy="132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HaritMart: Farm to Fork Digital Bridge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266498" y="2266474"/>
            <a:ext cx="7583805" cy="1943457"/>
          </a:xfrm>
          <a:prstGeom prst="roundRect">
            <a:avLst>
              <a:gd name="adj" fmla="val 4576"/>
            </a:avLst>
          </a:prstGeom>
          <a:noFill/>
          <a:ln w="22860">
            <a:solidFill>
              <a:srgbClr val="2A199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9358" y="2289334"/>
            <a:ext cx="847011" cy="1897737"/>
          </a:xfrm>
          <a:prstGeom prst="roundRect">
            <a:avLst>
              <a:gd name="adj" fmla="val 7262"/>
            </a:avLst>
          </a:prstGeom>
          <a:solidFill>
            <a:srgbClr val="110080"/>
          </a:solidFill>
          <a:ln/>
        </p:spPr>
      </p:sp>
      <p:sp>
        <p:nvSpPr>
          <p:cNvPr id="6" name="Text 3"/>
          <p:cNvSpPr/>
          <p:nvPr/>
        </p:nvSpPr>
        <p:spPr>
          <a:xfrm>
            <a:off x="6550223" y="3039666"/>
            <a:ext cx="31754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264253" y="2501027"/>
            <a:ext cx="264699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Aim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7348061" y="2958822"/>
            <a:ext cx="6479381" cy="1016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create an online e-commerce platform that connects farmers directly to consumers, eliminating middlemen, and promoting the sale of fresh, organic fruits and vegetables.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266498" y="4421624"/>
            <a:ext cx="7583805" cy="3182183"/>
          </a:xfrm>
          <a:prstGeom prst="roundRect">
            <a:avLst>
              <a:gd name="adj" fmla="val 2795"/>
            </a:avLst>
          </a:prstGeom>
          <a:noFill/>
          <a:ln w="22860">
            <a:solidFill>
              <a:srgbClr val="2A19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89358" y="4444484"/>
            <a:ext cx="847011" cy="3136463"/>
          </a:xfrm>
          <a:prstGeom prst="roundRect">
            <a:avLst>
              <a:gd name="adj" fmla="val 7262"/>
            </a:avLst>
          </a:prstGeom>
          <a:solidFill>
            <a:srgbClr val="110080"/>
          </a:solidFill>
          <a:ln/>
        </p:spPr>
      </p:sp>
      <p:sp>
        <p:nvSpPr>
          <p:cNvPr id="11" name="Text 8"/>
          <p:cNvSpPr/>
          <p:nvPr/>
        </p:nvSpPr>
        <p:spPr>
          <a:xfrm>
            <a:off x="6550223" y="5814179"/>
            <a:ext cx="31754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9264253" y="4656177"/>
            <a:ext cx="264699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Objectives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7348061" y="5113973"/>
            <a:ext cx="6479381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customers get fresh produce at fair prices.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348061" y="5526881"/>
            <a:ext cx="6479381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 farmers with a direct-to-customer sales channel.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348061" y="5939790"/>
            <a:ext cx="6479381" cy="67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 user-friendly and secure online shopping experience.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348060" y="6357721"/>
            <a:ext cx="6479381" cy="67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easily manageable admin panel for farmer/product control.</a:t>
            </a:r>
            <a:endParaRPr lang="en-US" sz="16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629C57-BEF2-ED19-8A3E-0570F6A342D5}"/>
              </a:ext>
            </a:extLst>
          </p:cNvPr>
          <p:cNvSpPr/>
          <p:nvPr/>
        </p:nvSpPr>
        <p:spPr>
          <a:xfrm>
            <a:off x="12592050" y="7760018"/>
            <a:ext cx="1905000" cy="362903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272525"/>
                </a:solidFill>
              </a:ln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3240" y="1640324"/>
            <a:ext cx="85039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HaritMart: Core Functionalities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1241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540" y="280273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B0A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614" y="2972872"/>
            <a:ext cx="272177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3709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Features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420028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Login/Logout &amp; user management (view/delete)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51084" y="4642485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Add/Update/Delete Farmers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51084" y="5084683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product categories &amp; products (Add/Edit/Delete)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51024" y="547689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Order Details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428548" y="3112413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12" name="Shape 9"/>
          <p:cNvSpPr/>
          <p:nvPr/>
        </p:nvSpPr>
        <p:spPr>
          <a:xfrm>
            <a:off x="10292298" y="280273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B0A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6371" y="2972872"/>
            <a:ext cx="272177" cy="3401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5842" y="3709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Features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685842" y="4200287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Register/Login/Logout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7685842" y="4642485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&amp; search products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7685842" y="5084683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to Cart &amp; Place Orders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7685842" y="5526881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profile and delivery address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7685842" y="5969079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Order History (with email notifications)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17BF4F-57E5-6A57-49D6-2C0DADBE6389}"/>
              </a:ext>
            </a:extLst>
          </p:cNvPr>
          <p:cNvSpPr/>
          <p:nvPr/>
        </p:nvSpPr>
        <p:spPr>
          <a:xfrm>
            <a:off x="12592050" y="7760018"/>
            <a:ext cx="1905000" cy="362903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272525"/>
                </a:solidFill>
              </a:ln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0473" y="621983"/>
            <a:ext cx="8969454" cy="67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HaritMart: Strengths &amp; Challenges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1647" y="1830586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91647" y="2408039"/>
            <a:ext cx="483394" cy="48339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89829" y="2477810"/>
            <a:ext cx="556331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middlemen; ensures fair prices for consumers and farmers.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91647" y="3595211"/>
            <a:ext cx="483394" cy="48339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9829" y="3664982"/>
            <a:ext cx="556331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access to fresh, high-quality produce.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91647" y="4508302"/>
            <a:ext cx="483394" cy="48339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9829" y="4578072"/>
            <a:ext cx="556331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product browsing and streamlined ordering process.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91647" y="5695474"/>
            <a:ext cx="483394" cy="48339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9829" y="5765244"/>
            <a:ext cx="556331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Scalable, modular architecture for future expansion.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1647" y="6608564"/>
            <a:ext cx="483394" cy="48339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9829" y="6678335"/>
            <a:ext cx="556331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admin control over farmer profiles and inventory.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584877" y="1830586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Disadvantages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584877" y="2408039"/>
            <a:ext cx="483394" cy="48339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3059" y="2477810"/>
            <a:ext cx="556331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real-time logistics or delivery tracking system.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584877" y="3321129"/>
            <a:ext cx="483394" cy="48339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3059" y="3390900"/>
            <a:ext cx="556331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on third-party payment gateway integration.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584877" y="4508302"/>
            <a:ext cx="483394" cy="48339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3059" y="4578072"/>
            <a:ext cx="556331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farmer onboarding and tech adoption may present challenges.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584877" y="5695474"/>
            <a:ext cx="483394" cy="48339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3059" y="5765244"/>
            <a:ext cx="556331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stable internet access and digital literacy for rural farmers.</a:t>
            </a:r>
            <a:endParaRPr lang="en-US" sz="16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79A85-4B60-30EC-5013-242D197E72EC}"/>
              </a:ext>
            </a:extLst>
          </p:cNvPr>
          <p:cNvSpPr/>
          <p:nvPr/>
        </p:nvSpPr>
        <p:spPr>
          <a:xfrm>
            <a:off x="12592050" y="7760018"/>
            <a:ext cx="1905000" cy="362903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272525"/>
                </a:solidFill>
              </a:ln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12614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Aannapurana: Homemade Meals, Delivered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93790" y="2494598"/>
            <a:ext cx="7556421" cy="1875234"/>
          </a:xfrm>
          <a:prstGeom prst="roundRect">
            <a:avLst>
              <a:gd name="adj" fmla="val 4572"/>
            </a:avLst>
          </a:prstGeom>
          <a:noFill/>
          <a:ln w="22860">
            <a:solidFill>
              <a:srgbClr val="2A199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6650" y="2517458"/>
            <a:ext cx="816531" cy="1829514"/>
          </a:xfrm>
          <a:prstGeom prst="roundRect">
            <a:avLst>
              <a:gd name="adj" fmla="val 7141"/>
            </a:avLst>
          </a:prstGeom>
          <a:solidFill>
            <a:srgbClr val="110080"/>
          </a:solidFill>
          <a:ln/>
        </p:spPr>
      </p:sp>
      <p:sp>
        <p:nvSpPr>
          <p:cNvPr id="6" name="Text 3"/>
          <p:cNvSpPr/>
          <p:nvPr/>
        </p:nvSpPr>
        <p:spPr>
          <a:xfrm>
            <a:off x="1067991" y="3240881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806428" y="272153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37253" y="3162776"/>
            <a:ext cx="6490097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develop a full-stack web platform connecting tiffin service providers (especially homemakers) with customers (students, office workers), enabling the delivery of healthy, homemade meals.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3790" y="4573905"/>
            <a:ext cx="7556421" cy="2742962"/>
          </a:xfrm>
          <a:prstGeom prst="roundRect">
            <a:avLst>
              <a:gd name="adj" fmla="val 3126"/>
            </a:avLst>
          </a:prstGeom>
          <a:noFill/>
          <a:ln w="22860">
            <a:solidFill>
              <a:srgbClr val="2A19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6650" y="4596765"/>
            <a:ext cx="816531" cy="2697242"/>
          </a:xfrm>
          <a:prstGeom prst="roundRect">
            <a:avLst>
              <a:gd name="adj" fmla="val 7141"/>
            </a:avLst>
          </a:prstGeom>
          <a:solidFill>
            <a:srgbClr val="110080"/>
          </a:solidFill>
          <a:ln/>
        </p:spPr>
      </p:sp>
      <p:sp>
        <p:nvSpPr>
          <p:cNvPr id="11" name="Text 8"/>
          <p:cNvSpPr/>
          <p:nvPr/>
        </p:nvSpPr>
        <p:spPr>
          <a:xfrm>
            <a:off x="1067991" y="5754053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806428" y="480083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Objectives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837253" y="5242084"/>
            <a:ext cx="649009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 homemakers and small vendors.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837253" y="5640229"/>
            <a:ext cx="649009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 digital, hygienic, and convenient meal solution.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837253" y="6038374"/>
            <a:ext cx="649009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the struggle of finding healthy food.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837253" y="6436519"/>
            <a:ext cx="6490097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a seamless browsing, booking, and management experience.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4958" y="914519"/>
            <a:ext cx="95804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Aannapurana: Core Functionalities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86608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4" name="Shape 2"/>
          <p:cNvSpPr/>
          <p:nvPr/>
        </p:nvSpPr>
        <p:spPr>
          <a:xfrm>
            <a:off x="2551688" y="207692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B0A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761" y="2247067"/>
            <a:ext cx="272177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2984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Vendor Features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347448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and list meal plans (pricing, food types).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51084" y="427958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tiffin availability.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51084" y="4721781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and manage customer orders.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51084" y="5196331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update and service duration management.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16962" y="2386608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12" name="Shape 9"/>
          <p:cNvSpPr/>
          <p:nvPr/>
        </p:nvSpPr>
        <p:spPr>
          <a:xfrm>
            <a:off x="6974860" y="207692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B0A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933" y="2247067"/>
            <a:ext cx="272177" cy="3401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74256" y="2984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Features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474256" y="347448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Registration, Login/Logout.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5474256" y="4279583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available tiffin services and menus.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5474256" y="5084683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meals (breakfast, lunch, dinner).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5474256" y="5889784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delivery addresses &amp; view order history.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5474256" y="669488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&amp; mobile-friendly UI.</a:t>
            </a:r>
            <a:endParaRPr lang="en-US" sz="1750" dirty="0"/>
          </a:p>
        </p:txBody>
      </p:sp>
      <p:sp>
        <p:nvSpPr>
          <p:cNvPr id="20" name="Shape 16"/>
          <p:cNvSpPr/>
          <p:nvPr/>
        </p:nvSpPr>
        <p:spPr>
          <a:xfrm>
            <a:off x="9640133" y="2386608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21" name="Shape 17"/>
          <p:cNvSpPr/>
          <p:nvPr/>
        </p:nvSpPr>
        <p:spPr>
          <a:xfrm>
            <a:off x="11398032" y="207692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B0AFF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2105" y="2247067"/>
            <a:ext cx="272177" cy="3401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897427" y="2984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Features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9897427" y="347448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users and vendors.</a:t>
            </a:r>
            <a:endParaRPr lang="en-US" sz="1750" dirty="0"/>
          </a:p>
        </p:txBody>
      </p:sp>
      <p:sp>
        <p:nvSpPr>
          <p:cNvPr id="25" name="Text 20"/>
          <p:cNvSpPr/>
          <p:nvPr/>
        </p:nvSpPr>
        <p:spPr>
          <a:xfrm>
            <a:off x="9897427" y="391668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vendor accounts.</a:t>
            </a:r>
            <a:endParaRPr lang="en-US" sz="1750" dirty="0"/>
          </a:p>
        </p:txBody>
      </p:sp>
      <p:sp>
        <p:nvSpPr>
          <p:cNvPr id="26" name="Text 21"/>
          <p:cNvSpPr/>
          <p:nvPr/>
        </p:nvSpPr>
        <p:spPr>
          <a:xfrm>
            <a:off x="9897427" y="435887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overall system activity.</a:t>
            </a:r>
            <a:endParaRPr lang="en-US" sz="17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5074AA-73D6-CA5E-447C-D50B18342C9C}"/>
              </a:ext>
            </a:extLst>
          </p:cNvPr>
          <p:cNvSpPr/>
          <p:nvPr/>
        </p:nvSpPr>
        <p:spPr>
          <a:xfrm>
            <a:off x="12592050" y="7760018"/>
            <a:ext cx="1905000" cy="362903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272525"/>
                </a:solidFill>
              </a:ln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1977" y="734258"/>
            <a:ext cx="9666327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Aannapurana: Strengths &amp; Challenges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66167" y="1903928"/>
            <a:ext cx="259961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66167" y="2462689"/>
            <a:ext cx="467916" cy="467916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41966" y="2530197"/>
            <a:ext cx="561951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Promotes local entrepreneurship, particularly supporting women.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6167" y="3611642"/>
            <a:ext cx="467916" cy="467916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1966" y="3679150"/>
            <a:ext cx="561951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healthy, homemade food to urban consumers.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6167" y="4495443"/>
            <a:ext cx="467916" cy="467916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41966" y="4562951"/>
            <a:ext cx="561951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the need to physically visit messes/tiffin centers.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6167" y="5644396"/>
            <a:ext cx="467916" cy="467916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1966" y="5711904"/>
            <a:ext cx="561951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and modular architecture supports growth.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6167" y="6528197"/>
            <a:ext cx="467916" cy="467916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1966" y="6595705"/>
            <a:ext cx="561951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Mobile-optimized user experience for on-the-go ordering.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76542" y="1903928"/>
            <a:ext cx="259961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Disadvantages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576542" y="2462689"/>
            <a:ext cx="467916" cy="467916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2341" y="2530197"/>
            <a:ext cx="561951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integrated payment system, relying on manual processes.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76542" y="3611642"/>
            <a:ext cx="467916" cy="467916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2341" y="3679150"/>
            <a:ext cx="561951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of real-time delivery tracking for orders.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76542" y="4495443"/>
            <a:ext cx="467916" cy="467916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2341" y="4562951"/>
            <a:ext cx="561951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and hygiene assurance depends heavily on vendor honesty.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76542" y="5644396"/>
            <a:ext cx="467916" cy="467916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52341" y="5711904"/>
            <a:ext cx="561951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reliable internet access and smartphone usage for all parties.</a:t>
            </a:r>
            <a:endParaRPr lang="en-US" sz="1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4D870D-3761-CABA-163A-10BC0B350F58}"/>
              </a:ext>
            </a:extLst>
          </p:cNvPr>
          <p:cNvSpPr/>
          <p:nvPr/>
        </p:nvSpPr>
        <p:spPr>
          <a:xfrm>
            <a:off x="12592050" y="7760018"/>
            <a:ext cx="1905000" cy="362903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272525"/>
                </a:solidFill>
              </a:ln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682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72489" y="2971681"/>
            <a:ext cx="908530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SmartReads: Digital Library Management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3810833"/>
            <a:ext cx="13042821" cy="1381482"/>
          </a:xfrm>
          <a:prstGeom prst="roundRect">
            <a:avLst>
              <a:gd name="adj" fmla="val 5517"/>
            </a:avLst>
          </a:prstGeom>
          <a:noFill/>
          <a:ln w="22860">
            <a:solidFill>
              <a:srgbClr val="2A199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6650" y="3833693"/>
            <a:ext cx="725805" cy="1335762"/>
          </a:xfrm>
          <a:prstGeom prst="roundRect">
            <a:avLst>
              <a:gd name="adj" fmla="val 6721"/>
            </a:avLst>
          </a:prstGeom>
          <a:solidFill>
            <a:srgbClr val="110080"/>
          </a:solidFill>
          <a:ln/>
        </p:spPr>
      </p:sp>
      <p:sp>
        <p:nvSpPr>
          <p:cNvPr id="6" name="Text 3"/>
          <p:cNvSpPr/>
          <p:nvPr/>
        </p:nvSpPr>
        <p:spPr>
          <a:xfrm>
            <a:off x="1039654" y="433149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634639" y="401514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Aim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723906" y="4407456"/>
            <a:ext cx="1208984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build a secure and efficient library management system that allows admins to manage books and users, and enables students to borrow and return books with ease.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93790" y="5373767"/>
            <a:ext cx="13042821" cy="2152412"/>
          </a:xfrm>
          <a:prstGeom prst="roundRect">
            <a:avLst>
              <a:gd name="adj" fmla="val 3541"/>
            </a:avLst>
          </a:prstGeom>
          <a:noFill/>
          <a:ln w="22860">
            <a:solidFill>
              <a:srgbClr val="2A19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6650" y="5396627"/>
            <a:ext cx="725805" cy="2106692"/>
          </a:xfrm>
          <a:prstGeom prst="roundRect">
            <a:avLst>
              <a:gd name="adj" fmla="val 6721"/>
            </a:avLst>
          </a:prstGeom>
          <a:solidFill>
            <a:srgbClr val="110080"/>
          </a:solidFill>
          <a:ln/>
        </p:spPr>
      </p:sp>
      <p:sp>
        <p:nvSpPr>
          <p:cNvPr id="11" name="Text 8"/>
          <p:cNvSpPr/>
          <p:nvPr/>
        </p:nvSpPr>
        <p:spPr>
          <a:xfrm>
            <a:off x="1039654" y="627983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634639" y="557807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Objectives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723906" y="5970389"/>
            <a:ext cx="1208984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Simplify book issuing and returning for users.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723906" y="6324124"/>
            <a:ext cx="1208984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 administrators to manage book inventory and student records.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723906" y="6677858"/>
            <a:ext cx="1208984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accurate transaction history and apply fines if needed.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23906" y="7031593"/>
            <a:ext cx="1208984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secure authentication and authorization.</a:t>
            </a: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C30EF4-FD49-8F32-CFF1-173C25913D93}"/>
              </a:ext>
            </a:extLst>
          </p:cNvPr>
          <p:cNvSpPr/>
          <p:nvPr/>
        </p:nvSpPr>
        <p:spPr>
          <a:xfrm>
            <a:off x="12592050" y="7760018"/>
            <a:ext cx="1905000" cy="362903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272525"/>
                </a:solidFill>
              </a:ln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0338" y="1679972"/>
            <a:ext cx="92297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SmartReads: Core Functionalities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52061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540" y="284237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B0A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614" y="3012519"/>
            <a:ext cx="272177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3749516"/>
            <a:ext cx="31937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Functionalities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4239935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and create user account.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51084" y="468213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and update profile.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51084" y="5124331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 books (with validation) &amp; return books (with fine calculation).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51084" y="5929432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borrowing history &amp; change password.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428548" y="3152061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12" name="Shape 9"/>
          <p:cNvSpPr/>
          <p:nvPr/>
        </p:nvSpPr>
        <p:spPr>
          <a:xfrm>
            <a:off x="10292298" y="284237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B0A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6371" y="3012519"/>
            <a:ext cx="272177" cy="3401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5842" y="3749516"/>
            <a:ext cx="2995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Functionalities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685842" y="4239935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Add, update, and delete books.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7685842" y="4682133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author records.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7685842" y="5124331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all students.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7685842" y="5566529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all transactions.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631503-AF0C-4AF0-F13E-50C8D180C38A}"/>
              </a:ext>
            </a:extLst>
          </p:cNvPr>
          <p:cNvSpPr/>
          <p:nvPr/>
        </p:nvSpPr>
        <p:spPr>
          <a:xfrm>
            <a:off x="12592050" y="7760018"/>
            <a:ext cx="1905000" cy="362903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272525"/>
                </a:solidFill>
              </a:ln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6393" y="955834"/>
            <a:ext cx="9477494" cy="65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SmartReads: Strengths &amp; Challenges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38188" y="2142173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738188" y="2708791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23511" y="2777252"/>
            <a:ext cx="5634395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login with robust role-based access control.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38188" y="3604974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23511" y="3673435"/>
            <a:ext cx="5634395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management for books and user records.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38188" y="4501158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23511" y="4569619"/>
            <a:ext cx="5634395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and accurate tracking of transaction history.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38188" y="5397341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3511" y="5465802"/>
            <a:ext cx="5634395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database schema with real-world entity mappings.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38188" y="6562130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23511" y="6630591"/>
            <a:ext cx="5634395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upon the industry-standard Spring ecosystem.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580114" y="2142173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Disadvantages</a:t>
            </a:r>
            <a:endParaRPr lang="en-US" sz="2050" dirty="0"/>
          </a:p>
        </p:txBody>
      </p:sp>
      <p:sp>
        <p:nvSpPr>
          <p:cNvPr id="15" name="Shape 13"/>
          <p:cNvSpPr/>
          <p:nvPr/>
        </p:nvSpPr>
        <p:spPr>
          <a:xfrm>
            <a:off x="7580114" y="2708791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5438" y="2777252"/>
            <a:ext cx="5634395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dedicated frontend UI, limiting interactions to backend.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580114" y="3873579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5438" y="3942040"/>
            <a:ext cx="5634395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logic for fine calculation, lacking customization options.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580114" y="5038368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5438" y="5106829"/>
            <a:ext cx="5634395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of advanced search or filtering capabilities for books.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580114" y="6203156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5438" y="6271617"/>
            <a:ext cx="5634395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Monolithic design may pose challenges for future large-scale scalability.</a:t>
            </a:r>
            <a:endParaRPr lang="en-US" sz="16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207C57-5D23-6D74-FD75-1E24065CFD85}"/>
              </a:ext>
            </a:extLst>
          </p:cNvPr>
          <p:cNvSpPr/>
          <p:nvPr/>
        </p:nvSpPr>
        <p:spPr>
          <a:xfrm>
            <a:off x="12592050" y="7760018"/>
            <a:ext cx="1905000" cy="362903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272525"/>
                </a:solidFill>
              </a:ln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776</Words>
  <Application>Microsoft Office PowerPoint</Application>
  <PresentationFormat>Custom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Amol Gavit</cp:lastModifiedBy>
  <cp:revision>4</cp:revision>
  <dcterms:created xsi:type="dcterms:W3CDTF">2025-07-22T17:24:11Z</dcterms:created>
  <dcterms:modified xsi:type="dcterms:W3CDTF">2025-08-15T12:43:15Z</dcterms:modified>
</cp:coreProperties>
</file>