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4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7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79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B740-E8B6-D0D3-CF8B-994352E8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11D22-70CD-7D60-D28D-44F9ADA3C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6E218-A26A-1F7F-B9A8-EA3F76A6F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25BFE-47FB-AB37-7BF5-FF5E0FF37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51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EE1E-A13E-C880-8514-9503F692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961BD-C056-032F-9288-E8F281296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2E90F-0728-8724-F89B-9A54A1B85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91A7A-207A-82C0-FD5F-56901A2A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4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6AD6EE87-EBD5-4F12-A48A-63ACA297AC8F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139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823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5A61015F-7CC6-4D0A-9D87-873EA4C304C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351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2206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982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695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050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8689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99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148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8423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82150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2322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1874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3033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190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60872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350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517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065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00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529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673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615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43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300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48" r:id="rId1"/>
    <p:sldLayoutId id="2147484649" r:id="rId2"/>
    <p:sldLayoutId id="2147484650" r:id="rId3"/>
    <p:sldLayoutId id="2147484651" r:id="rId4"/>
    <p:sldLayoutId id="2147484652" r:id="rId5"/>
    <p:sldLayoutId id="2147484653" r:id="rId6"/>
    <p:sldLayoutId id="2147484654" r:id="rId7"/>
    <p:sldLayoutId id="2147484655" r:id="rId8"/>
    <p:sldLayoutId id="2147484656" r:id="rId9"/>
    <p:sldLayoutId id="2147484657" r:id="rId10"/>
    <p:sldLayoutId id="2147484658" r:id="rId11"/>
    <p:sldLayoutId id="2147484659" r:id="rId12"/>
    <p:sldLayoutId id="2147484660" r:id="rId13"/>
    <p:sldLayoutId id="2147484661" r:id="rId14"/>
    <p:sldLayoutId id="2147484662" r:id="rId15"/>
    <p:sldLayoutId id="2147484663" r:id="rId16"/>
    <p:sldLayoutId id="2147484664" r:id="rId17"/>
    <p:sldLayoutId id="2147484665" r:id="rId18"/>
    <p:sldLayoutId id="2147484666" r:id="rId19"/>
    <p:sldLayoutId id="2147484667" r:id="rId20"/>
    <p:sldLayoutId id="2147484668" r:id="rId21"/>
    <p:sldLayoutId id="2147484669" r:id="rId22"/>
    <p:sldLayoutId id="2147484670" r:id="rId23"/>
    <p:sldLayoutId id="2147484671" r:id="rId24"/>
    <p:sldLayoutId id="2147484672" r:id="rId25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aritMart.p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annapurana.p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SmartReads.p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707448"/>
            <a:ext cx="14630400" cy="216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C-DAC Mumbai</a:t>
            </a:r>
          </a:p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Major Project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3034145" y="3416022"/>
            <a:ext cx="92583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the C-DAC Mumbai Major Project Topics. Our team is excited to present three innovative solutions designed to address real-world challenges.</a:t>
            </a:r>
            <a:endParaRPr lang="en-US" sz="3200" b="1" dirty="0"/>
          </a:p>
        </p:txBody>
      </p:sp>
      <p:sp>
        <p:nvSpPr>
          <p:cNvPr id="5" name="Text 2"/>
          <p:cNvSpPr/>
          <p:nvPr/>
        </p:nvSpPr>
        <p:spPr>
          <a:xfrm>
            <a:off x="1548246" y="5378301"/>
            <a:ext cx="92582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Amol Gavit (PL)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Suchi Tripathi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Meenakshi Lokhande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Shilpa Pandey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Pallavi Sahay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207954" y="6104106"/>
            <a:ext cx="38900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guidance of</a:t>
            </a:r>
            <a:b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Rahul Badwar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945573"/>
            <a:ext cx="14630400" cy="100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150" b="1" dirty="0" err="1">
                <a:solidFill>
                  <a:srgbClr val="FFFFFF"/>
                </a:solidFill>
                <a:latin typeface="Rockwell Extra Bold" panose="02060903040505020403" pitchFamily="18" charset="0"/>
                <a:ea typeface="Inter Bold"/>
                <a:cs typeface="Inter Bold" pitchFamily="34" charset="-120"/>
              </a:rPr>
              <a:t>HaritMart</a:t>
            </a:r>
            <a:endParaRPr lang="en-US" sz="4150" dirty="0">
              <a:latin typeface="Rockwell Extra Bold" panose="02060903040505020403" pitchFamily="18" charset="0"/>
              <a:ea typeface="Inter Bold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153392" y="2068766"/>
            <a:ext cx="12696912" cy="2141166"/>
          </a:xfrm>
          <a:prstGeom prst="roundRect">
            <a:avLst>
              <a:gd name="adj" fmla="val 4576"/>
            </a:avLst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</p:sp>
      <p:sp>
        <p:nvSpPr>
          <p:cNvPr id="7" name="Text 4"/>
          <p:cNvSpPr/>
          <p:nvPr/>
        </p:nvSpPr>
        <p:spPr>
          <a:xfrm>
            <a:off x="1153391" y="2379518"/>
            <a:ext cx="12696911" cy="54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569027" y="2896255"/>
            <a:ext cx="11729063" cy="101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create an online e-commerce platform that connects farmers directly to consumers, eliminating middlemen and promoting the sale of fresh, organic fruits and vegetables.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709943" y="4481004"/>
            <a:ext cx="7583805" cy="3182183"/>
          </a:xfrm>
          <a:prstGeom prst="roundRect">
            <a:avLst>
              <a:gd name="adj" fmla="val 2795"/>
            </a:avLst>
          </a:prstGeom>
          <a:noFill/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8346" y="4622770"/>
            <a:ext cx="264699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262154" y="5105227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customers get fresh produce at fair prices.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62154" y="5563910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Empower</a:t>
            </a: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farmers with a direct-to-customer sales channel.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262154" y="6022593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user-friendly and secure online shopping experience.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262154" y="6697646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easily manageable admin panel for farmer/product control.</a:t>
            </a:r>
            <a:endParaRPr lang="en-US" sz="2000" dirty="0"/>
          </a:p>
        </p:txBody>
      </p:sp>
      <p:sp>
        <p:nvSpPr>
          <p:cNvPr id="17" name="Oval 16">
            <a:hlinkClick r:id="rId3" action="ppaction://hlinkfile"/>
            <a:extLst>
              <a:ext uri="{FF2B5EF4-FFF2-40B4-BE49-F238E27FC236}">
                <a16:creationId xmlns:a16="http://schemas.microsoft.com/office/drawing/2014/main" id="{14A90304-4AC7-288E-B7D3-5C2C428E01E8}"/>
              </a:ext>
            </a:extLst>
          </p:cNvPr>
          <p:cNvSpPr/>
          <p:nvPr/>
        </p:nvSpPr>
        <p:spPr>
          <a:xfrm>
            <a:off x="12448309" y="5578461"/>
            <a:ext cx="1153391" cy="98726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Flow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31545"/>
            <a:ext cx="14630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Functionalities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1238120" y="24099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Features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91311" y="3088460"/>
            <a:ext cx="55159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Login/Logout &amp; user management (view/delete)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1311" y="353065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Add/Update/Delete Farmers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1311" y="397285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product categories &amp; products (Add/Edit/Delete)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1310" y="475031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Order Details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163824" y="2420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Features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7841706" y="308846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Register/Login/Logout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841706" y="353065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&amp; search products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841706" y="397285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Cart &amp; Place Orders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841706" y="441505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profile and delivery address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841706" y="4857252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E4A1A6D9-19BF-453D-7579-987F03B8E92C}"/>
              </a:ext>
            </a:extLst>
          </p:cNvPr>
          <p:cNvSpPr/>
          <p:nvPr/>
        </p:nvSpPr>
        <p:spPr>
          <a:xfrm>
            <a:off x="5328589" y="58796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Farmers Features</a:t>
            </a:r>
            <a:endParaRPr lang="en-US" sz="32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648229F-B278-CDEE-B383-CED785B25A44}"/>
              </a:ext>
            </a:extLst>
          </p:cNvPr>
          <p:cNvSpPr/>
          <p:nvPr/>
        </p:nvSpPr>
        <p:spPr>
          <a:xfrm>
            <a:off x="4861057" y="6488902"/>
            <a:ext cx="55159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Login/Logout</a:t>
            </a:r>
            <a:endParaRPr lang="en-US" sz="20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DC1E8FC-5252-70CC-311D-FE17C74E504C}"/>
              </a:ext>
            </a:extLst>
          </p:cNvPr>
          <p:cNvSpPr/>
          <p:nvPr/>
        </p:nvSpPr>
        <p:spPr>
          <a:xfrm>
            <a:off x="4861057" y="6931100"/>
            <a:ext cx="55159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Their products</a:t>
            </a:r>
            <a:endParaRPr lang="en-US" sz="20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087FB14-C1D8-5A9D-3FB2-EC3DAE114903}"/>
              </a:ext>
            </a:extLst>
          </p:cNvPr>
          <p:cNvSpPr/>
          <p:nvPr/>
        </p:nvSpPr>
        <p:spPr>
          <a:xfrm>
            <a:off x="4849583" y="7378474"/>
            <a:ext cx="55159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Order Details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21983"/>
            <a:ext cx="14630400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250"/>
              </a:lnSpc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&amp; </a:t>
            </a: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1647" y="1830586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0680" y="2305883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middlemen; ensures fair prices for consumers and farmers.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0680" y="3493055"/>
            <a:ext cx="556331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access to fresh, high-quality produce.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0680" y="4406145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product browsing and streamlined ordering process.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0678" y="5765243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admin control over farmer profiles and inventory.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4877" y="1830586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956408" y="2477810"/>
            <a:ext cx="556331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logistics or delivery tracking system.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6408" y="3390900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on third-party payment gateway integration.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56408" y="4578072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farmer onboarding and tech adoption may present challenges.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56408" y="5765244"/>
            <a:ext cx="556331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stable internet access and digital literacy for rural farmers.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857B-D06C-5108-25A8-E4FE90BB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175B48D-8421-157A-840B-9AA628B0A0FD}"/>
              </a:ext>
            </a:extLst>
          </p:cNvPr>
          <p:cNvSpPr/>
          <p:nvPr/>
        </p:nvSpPr>
        <p:spPr>
          <a:xfrm>
            <a:off x="0" y="945573"/>
            <a:ext cx="14630400" cy="100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200"/>
              </a:lnSpc>
            </a:pPr>
            <a:r>
              <a:rPr lang="en-US" sz="4400" b="1" dirty="0" err="1">
                <a:solidFill>
                  <a:srgbClr val="FFFFFF"/>
                </a:solidFill>
                <a:latin typeface="Rockwell Extra Bold" panose="02060903040505020403" pitchFamily="18" charset="0"/>
                <a:ea typeface="Inter Bold" pitchFamily="34" charset="-122"/>
                <a:cs typeface="Inter Bold" pitchFamily="34" charset="-120"/>
              </a:rPr>
              <a:t>Annapurana</a:t>
            </a:r>
            <a:endParaRPr lang="en-US" sz="4400" dirty="0">
              <a:latin typeface="Rockwell Extra Bold" panose="02060903040505020403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2EF6E8-A62E-F011-086D-DFA1B33F2106}"/>
              </a:ext>
            </a:extLst>
          </p:cNvPr>
          <p:cNvSpPr/>
          <p:nvPr/>
        </p:nvSpPr>
        <p:spPr>
          <a:xfrm>
            <a:off x="1153392" y="2068766"/>
            <a:ext cx="12696912" cy="2141166"/>
          </a:xfrm>
          <a:prstGeom prst="roundRect">
            <a:avLst>
              <a:gd name="adj" fmla="val 4576"/>
            </a:avLst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130F7DD-3430-E488-62E9-0516037555EE}"/>
              </a:ext>
            </a:extLst>
          </p:cNvPr>
          <p:cNvSpPr/>
          <p:nvPr/>
        </p:nvSpPr>
        <p:spPr>
          <a:xfrm>
            <a:off x="1153391" y="2379518"/>
            <a:ext cx="12696911" cy="54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</a:t>
            </a:r>
            <a:endParaRPr lang="en-US" sz="20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0283AD-0FB5-5C52-1448-CCBBB677CB73}"/>
              </a:ext>
            </a:extLst>
          </p:cNvPr>
          <p:cNvSpPr/>
          <p:nvPr/>
        </p:nvSpPr>
        <p:spPr>
          <a:xfrm>
            <a:off x="1569027" y="2896255"/>
            <a:ext cx="11729063" cy="101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develop a full-stack web platform connecting tiffin service providers (especially homemakers) with customers (students, office workers), enabling the delivery of healthy, homemade meals.</a:t>
            </a:r>
            <a:endParaRPr lang="en-US" sz="2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3449A4E-1144-45A8-652D-1F7EB45B13D6}"/>
              </a:ext>
            </a:extLst>
          </p:cNvPr>
          <p:cNvSpPr/>
          <p:nvPr/>
        </p:nvSpPr>
        <p:spPr>
          <a:xfrm>
            <a:off x="3709943" y="4481004"/>
            <a:ext cx="7583805" cy="3182183"/>
          </a:xfrm>
          <a:prstGeom prst="roundRect">
            <a:avLst>
              <a:gd name="adj" fmla="val 2795"/>
            </a:avLst>
          </a:prstGeom>
          <a:noFill/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67B5529-143B-4D1D-A6A5-FD7985FFC6FD}"/>
              </a:ext>
            </a:extLst>
          </p:cNvPr>
          <p:cNvSpPr/>
          <p:nvPr/>
        </p:nvSpPr>
        <p:spPr>
          <a:xfrm>
            <a:off x="6178346" y="4767911"/>
            <a:ext cx="264699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3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B89B615-BEE4-91BE-D30D-DD64F5E6D5BD}"/>
              </a:ext>
            </a:extLst>
          </p:cNvPr>
          <p:cNvSpPr/>
          <p:nvPr/>
        </p:nvSpPr>
        <p:spPr>
          <a:xfrm>
            <a:off x="4262154" y="5262999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homemakers and small vendors.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2F1EA9F-EC12-60DB-C2AF-1C0031BA078A}"/>
              </a:ext>
            </a:extLst>
          </p:cNvPr>
          <p:cNvSpPr/>
          <p:nvPr/>
        </p:nvSpPr>
        <p:spPr>
          <a:xfrm>
            <a:off x="4262154" y="5721682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digital, hygienic, and convenient meal solution.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552F66C-237F-5ABF-5C63-9B69FCB7AC97}"/>
              </a:ext>
            </a:extLst>
          </p:cNvPr>
          <p:cNvSpPr/>
          <p:nvPr/>
        </p:nvSpPr>
        <p:spPr>
          <a:xfrm>
            <a:off x="4262154" y="6180365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the struggle of finding healthy food.</a:t>
            </a:r>
            <a:endParaRPr lang="en-US" sz="2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1D87EC1-49C9-0826-9A12-F7EF1C3A6CF6}"/>
              </a:ext>
            </a:extLst>
          </p:cNvPr>
          <p:cNvSpPr/>
          <p:nvPr/>
        </p:nvSpPr>
        <p:spPr>
          <a:xfrm>
            <a:off x="4262154" y="6661810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 seamless browsing, booking, and management experience.</a:t>
            </a:r>
            <a:endParaRPr lang="en-US" sz="2000" dirty="0"/>
          </a:p>
        </p:txBody>
      </p:sp>
      <p:sp>
        <p:nvSpPr>
          <p:cNvPr id="2" name="Oval 1">
            <a:hlinkClick r:id="rId3" action="ppaction://hlinkfile"/>
            <a:extLst>
              <a:ext uri="{FF2B5EF4-FFF2-40B4-BE49-F238E27FC236}">
                <a16:creationId xmlns:a16="http://schemas.microsoft.com/office/drawing/2014/main" id="{C79F528B-C218-21FF-A04A-DD46652F0228}"/>
              </a:ext>
            </a:extLst>
          </p:cNvPr>
          <p:cNvSpPr/>
          <p:nvPr/>
        </p:nvSpPr>
        <p:spPr>
          <a:xfrm>
            <a:off x="12448309" y="5578461"/>
            <a:ext cx="1153391" cy="98726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322668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4958" y="914519"/>
            <a:ext cx="95804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Functionalities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1051084" y="298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Features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51084" y="347448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and list meal plans (pricing, food types).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084" y="427958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tiffin availability.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084" y="472178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manage customer orders.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084" y="552688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update and service duration management.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74256" y="298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Features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474256" y="347448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Registration, Login/Logout.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474256" y="397335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available tiffin services and menus.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474256" y="477845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meals (breakfast, lunch, dinner).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474256" y="558355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delivery addresses &amp; view order history.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474256" y="638865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&amp; mobile-friendly UI.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897427" y="298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Features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9897427" y="347448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users and vendors.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9897427" y="391668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vendor accounts.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9897427" y="43588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overall system activity.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6167" y="1903928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43202" y="2530197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Promotes local entrepreneurship, particularly supporting women.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3202" y="3679150"/>
            <a:ext cx="561951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healthy, homemade food to urban consumers.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3202" y="4562951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the need to physically visit messes/tiffin centers.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76542" y="1903928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826313" y="2530197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integrated payment system, relying on manual processes.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26313" y="3679150"/>
            <a:ext cx="561951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real-time delivery tracking for orders.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26313" y="4562951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and hygiene assurance depends heavily on vendor honesty.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26313" y="5711904"/>
            <a:ext cx="561951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reliable internet access and smartphone usage for all parties.</a:t>
            </a:r>
            <a:endParaRPr lang="en-US" sz="20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D9DC81FF-0CFA-4364-8477-37E44AEC7721}"/>
              </a:ext>
            </a:extLst>
          </p:cNvPr>
          <p:cNvSpPr/>
          <p:nvPr/>
        </p:nvSpPr>
        <p:spPr>
          <a:xfrm>
            <a:off x="0" y="621983"/>
            <a:ext cx="14630400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250"/>
              </a:lnSpc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&amp; </a:t>
            </a: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FE919-A236-10AF-049D-7113D8AA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042050D-7041-296F-414B-15D595AA59BE}"/>
              </a:ext>
            </a:extLst>
          </p:cNvPr>
          <p:cNvSpPr/>
          <p:nvPr/>
        </p:nvSpPr>
        <p:spPr>
          <a:xfrm>
            <a:off x="0" y="945573"/>
            <a:ext cx="14630400" cy="100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200"/>
              </a:lnSpc>
            </a:pPr>
            <a:r>
              <a:rPr lang="en-US" sz="4400" b="1" dirty="0" err="1">
                <a:solidFill>
                  <a:srgbClr val="FFFFFF"/>
                </a:solidFill>
                <a:latin typeface="Rockwell Extra Bold" panose="02060903040505020403" pitchFamily="18" charset="0"/>
                <a:ea typeface="Inter Bold" pitchFamily="34" charset="-122"/>
                <a:cs typeface="Inter Bold" pitchFamily="34" charset="-120"/>
              </a:rPr>
              <a:t>SmartReads</a:t>
            </a:r>
            <a:endParaRPr lang="en-US" sz="4400" dirty="0">
              <a:latin typeface="Rockwell Extra Bold" panose="02060903040505020403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4056927-C42A-A53C-BECA-343B32FD4FFB}"/>
              </a:ext>
            </a:extLst>
          </p:cNvPr>
          <p:cNvSpPr/>
          <p:nvPr/>
        </p:nvSpPr>
        <p:spPr>
          <a:xfrm>
            <a:off x="1153392" y="2068766"/>
            <a:ext cx="12696912" cy="2141166"/>
          </a:xfrm>
          <a:prstGeom prst="roundRect">
            <a:avLst>
              <a:gd name="adj" fmla="val 4576"/>
            </a:avLst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42A5E05-2967-022C-BC3B-CE3287395E1B}"/>
              </a:ext>
            </a:extLst>
          </p:cNvPr>
          <p:cNvSpPr/>
          <p:nvPr/>
        </p:nvSpPr>
        <p:spPr>
          <a:xfrm>
            <a:off x="1153391" y="2379518"/>
            <a:ext cx="12696911" cy="54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</a:t>
            </a:r>
            <a:endParaRPr lang="en-US" sz="20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86E6B28-1CD5-0DBE-4FAB-47267A468D36}"/>
              </a:ext>
            </a:extLst>
          </p:cNvPr>
          <p:cNvSpPr/>
          <p:nvPr/>
        </p:nvSpPr>
        <p:spPr>
          <a:xfrm>
            <a:off x="1569027" y="2896255"/>
            <a:ext cx="11729063" cy="101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build a secure and efficient library management system that allows admins to manage books and users, and enables students to borrow and return books with ease.</a:t>
            </a:r>
            <a:endParaRPr lang="en-US" sz="2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3CBA9F-4793-FE74-A4FC-3D7F4D0A084B}"/>
              </a:ext>
            </a:extLst>
          </p:cNvPr>
          <p:cNvSpPr/>
          <p:nvPr/>
        </p:nvSpPr>
        <p:spPr>
          <a:xfrm>
            <a:off x="3210792" y="4481004"/>
            <a:ext cx="8749144" cy="3182183"/>
          </a:xfrm>
          <a:prstGeom prst="roundRect">
            <a:avLst>
              <a:gd name="adj" fmla="val 2795"/>
            </a:avLst>
          </a:prstGeom>
          <a:noFill/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A4A4364-6E58-0223-447B-6018ACBC7DC3}"/>
              </a:ext>
            </a:extLst>
          </p:cNvPr>
          <p:cNvSpPr/>
          <p:nvPr/>
        </p:nvSpPr>
        <p:spPr>
          <a:xfrm>
            <a:off x="6178346" y="4757037"/>
            <a:ext cx="264699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3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1DE679D-197D-9EFC-C105-517245617AD3}"/>
              </a:ext>
            </a:extLst>
          </p:cNvPr>
          <p:cNvSpPr/>
          <p:nvPr/>
        </p:nvSpPr>
        <p:spPr>
          <a:xfrm>
            <a:off x="3981599" y="5325230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Simplify book issuing and returning for users.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DBEF5CF-A581-14E2-4CA3-9846A2855C7F}"/>
              </a:ext>
            </a:extLst>
          </p:cNvPr>
          <p:cNvSpPr/>
          <p:nvPr/>
        </p:nvSpPr>
        <p:spPr>
          <a:xfrm>
            <a:off x="3981599" y="5783913"/>
            <a:ext cx="647938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administrators to manage book inventory and student records.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ED8B6DD-5F17-06B5-1A67-DA2C56FE35E4}"/>
              </a:ext>
            </a:extLst>
          </p:cNvPr>
          <p:cNvSpPr/>
          <p:nvPr/>
        </p:nvSpPr>
        <p:spPr>
          <a:xfrm>
            <a:off x="3981599" y="6242596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accurate transaction history and apply fines if needed.</a:t>
            </a:r>
            <a:endParaRPr lang="en-US" sz="2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DB051AC-7AF2-285B-969E-7665897225FE}"/>
              </a:ext>
            </a:extLst>
          </p:cNvPr>
          <p:cNvSpPr/>
          <p:nvPr/>
        </p:nvSpPr>
        <p:spPr>
          <a:xfrm>
            <a:off x="3981599" y="6917649"/>
            <a:ext cx="6479381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secure authentication and authorization.</a:t>
            </a:r>
            <a:endParaRPr lang="en-US" sz="2000" dirty="0"/>
          </a:p>
        </p:txBody>
      </p:sp>
      <p:sp>
        <p:nvSpPr>
          <p:cNvPr id="2" name="Oval 1">
            <a:hlinkClick r:id="rId3" action="ppaction://hlinkfile"/>
            <a:extLst>
              <a:ext uri="{FF2B5EF4-FFF2-40B4-BE49-F238E27FC236}">
                <a16:creationId xmlns:a16="http://schemas.microsoft.com/office/drawing/2014/main" id="{7EA575EF-1FB1-A81C-6E2E-13362B62C04F}"/>
              </a:ext>
            </a:extLst>
          </p:cNvPr>
          <p:cNvSpPr/>
          <p:nvPr/>
        </p:nvSpPr>
        <p:spPr>
          <a:xfrm>
            <a:off x="12696911" y="5733178"/>
            <a:ext cx="1153391" cy="98726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31821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0338" y="1679972"/>
            <a:ext cx="92297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SmartReads: Core Functionalities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1051084" y="3749516"/>
            <a:ext cx="3193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Functionalities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51084" y="423993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and create user account.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084" y="468213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update profile.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084" y="512433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books (with validation) &amp; return books (with fine calculation).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084" y="592943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borrowing history &amp; change password.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685842" y="3749516"/>
            <a:ext cx="2995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Functionalities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7685842" y="423993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update, and delete books.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685842" y="468213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books records.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685842" y="512433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students.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685842" y="556652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transactions.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8188" y="2142173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7874" y="2777252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with robust role-based access control.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7874" y="3673435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management for books and user records.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7874" y="4569619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tracking of transaction history.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7874" y="5465802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database schema with real-world entity mappings.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7874" y="6630591"/>
            <a:ext cx="563439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upon the industry-standard Spring ecosystem.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0114" y="2142173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849801" y="2777252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dedicated frontend UI, limiting interactions to backend.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9801" y="3942040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logic for fine calculation, lacking customization options.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49801" y="5106829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advanced search or filtering capabilities for books.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49801" y="6271617"/>
            <a:ext cx="563439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Monolithic design may pose challenges for future large-scale scalability.</a:t>
            </a:r>
            <a:endParaRPr lang="en-US" sz="20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51C58754-B41F-85D3-0618-E01C076E7BE7}"/>
              </a:ext>
            </a:extLst>
          </p:cNvPr>
          <p:cNvSpPr/>
          <p:nvPr/>
        </p:nvSpPr>
        <p:spPr>
          <a:xfrm>
            <a:off x="0" y="621983"/>
            <a:ext cx="14630400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250"/>
              </a:lnSpc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&amp; </a:t>
            </a: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143</TotalTime>
  <Words>720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Inter</vt:lpstr>
      <vt:lpstr>Inter Bold</vt:lpstr>
      <vt:lpstr>Rockwell Extra Bold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Amol Gavit</cp:lastModifiedBy>
  <cp:revision>12</cp:revision>
  <dcterms:created xsi:type="dcterms:W3CDTF">2025-07-22T16:24:10Z</dcterms:created>
  <dcterms:modified xsi:type="dcterms:W3CDTF">2025-08-15T12:43:41Z</dcterms:modified>
</cp:coreProperties>
</file>